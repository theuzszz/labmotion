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1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2.xml" ContentType="application/vnd.openxmlformats-officedocument.drawingml.chart+xml"/>
  <Override PartName="/ppt/slides/charts/chart3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16e03bad3f14de7" /><Relationship Type="http://schemas.openxmlformats.org/officeDocument/2006/relationships/extended-properties" Target="/docProps/app.xml" Id="R5c50e03b73c944ae" /><Relationship Type="http://schemas.openxmlformats.org/officeDocument/2006/relationships/officeDocument" Target="/ppt/presentation.xml" Id="Re9f74a327146458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ee1913085e141dc"/>
  </p:sldMasterIdLst>
  <p:notesMasterIdLst>
    <p:notesMasterId xmlns:r="http://schemas.openxmlformats.org/officeDocument/2006/relationships" r:id="R92297ab88c4e4e41"/>
  </p:notesMasterIdLst>
  <p:sldIdLst>
    <p:sldId xmlns:r="http://schemas.openxmlformats.org/officeDocument/2006/relationships" id="256" r:id="R6bc9f787c60d47c9"/>
    <p:sldId xmlns:r="http://schemas.openxmlformats.org/officeDocument/2006/relationships" id="257" r:id="R09855d992ba24174"/>
    <p:sldId xmlns:r="http://schemas.openxmlformats.org/officeDocument/2006/relationships" id="258" r:id="R9d68c139ec104aa7"/>
    <p:sldId xmlns:r="http://schemas.openxmlformats.org/officeDocument/2006/relationships" id="259" r:id="Ra403f7845ae4452b"/>
    <p:sldId xmlns:r="http://schemas.openxmlformats.org/officeDocument/2006/relationships" id="260" r:id="Rd4c3091d69214581"/>
    <p:sldId xmlns:r="http://schemas.openxmlformats.org/officeDocument/2006/relationships" id="261" r:id="R4a775c03eaa34c62"/>
    <p:sldId xmlns:r="http://schemas.openxmlformats.org/officeDocument/2006/relationships" id="262" r:id="Rbdf50c0de33d4d15"/>
    <p:sldId xmlns:r="http://schemas.openxmlformats.org/officeDocument/2006/relationships" id="263" r:id="R949eadf870f74e9b"/>
    <p:sldId xmlns:r="http://schemas.openxmlformats.org/officeDocument/2006/relationships" id="264" r:id="R31127aa66ca347ac"/>
    <p:sldId xmlns:r="http://schemas.openxmlformats.org/officeDocument/2006/relationships" id="265" r:id="Ra8a79902df5d479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5377af1f7144946" /><Relationship Type="http://schemas.openxmlformats.org/officeDocument/2006/relationships/slideMaster" Target="/ppt/slideMasters/slideMaster1.xml" Id="R0ee1913085e141dc" /><Relationship Type="http://schemas.openxmlformats.org/officeDocument/2006/relationships/notesMaster" Target="/ppt/notesMasters/notesMaster1.xml" Id="R92297ab88c4e4e41" /><Relationship Type="http://schemas.openxmlformats.org/officeDocument/2006/relationships/presProps" Target="/ppt/presProps.xml" Id="Rccabd0c8abe84f62" /><Relationship Type="http://schemas.openxmlformats.org/officeDocument/2006/relationships/tableStyles" Target="/ppt/tableStyles.xml" Id="R74007daa401b4b55" /><Relationship Type="http://schemas.openxmlformats.org/officeDocument/2006/relationships/slide" Target="/ppt/slides/slide1.xml" Id="R6bc9f787c60d47c9" /><Relationship Type="http://schemas.openxmlformats.org/officeDocument/2006/relationships/slide" Target="/ppt/slides/slide2.xml" Id="R09855d992ba24174" /><Relationship Type="http://schemas.openxmlformats.org/officeDocument/2006/relationships/slide" Target="/ppt/slides/slide3.xml" Id="R9d68c139ec104aa7" /><Relationship Type="http://schemas.openxmlformats.org/officeDocument/2006/relationships/slide" Target="/ppt/slides/slide4.xml" Id="Ra403f7845ae4452b" /><Relationship Type="http://schemas.openxmlformats.org/officeDocument/2006/relationships/slide" Target="/ppt/slides/slide5.xml" Id="Rd4c3091d69214581" /><Relationship Type="http://schemas.openxmlformats.org/officeDocument/2006/relationships/slide" Target="/ppt/slides/slide6.xml" Id="R4a775c03eaa34c62" /><Relationship Type="http://schemas.openxmlformats.org/officeDocument/2006/relationships/slide" Target="/ppt/slides/slide7.xml" Id="Rbdf50c0de33d4d15" /><Relationship Type="http://schemas.openxmlformats.org/officeDocument/2006/relationships/slide" Target="/ppt/slides/slide8.xml" Id="R949eadf870f74e9b" /><Relationship Type="http://schemas.openxmlformats.org/officeDocument/2006/relationships/slide" Target="/ppt/slides/slide9.xml" Id="R31127aa66ca347ac" /><Relationship Type="http://schemas.openxmlformats.org/officeDocument/2006/relationships/slide" Target="/ppt/slides/slide10.xml" Id="Ra8a79902df5d479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08aa562271c415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371f0558310431f" /><Relationship Type="http://schemas.openxmlformats.org/officeDocument/2006/relationships/notesMaster" Target="/ppt/notesMasters/notesMaster1.xml" Id="Re0923f5f67ef4d9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aea1bb1fb2c4c84" /><Relationship Type="http://schemas.openxmlformats.org/officeDocument/2006/relationships/notesMaster" Target="/ppt/notesMasters/notesMaster1.xml" Id="R798803760b20417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e15a3e981294305" /><Relationship Type="http://schemas.openxmlformats.org/officeDocument/2006/relationships/notesMaster" Target="/ppt/notesMasters/notesMaster1.xml" Id="Rce9a75af087349d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f2d432793b24961" /><Relationship Type="http://schemas.openxmlformats.org/officeDocument/2006/relationships/notesMaster" Target="/ppt/notesMasters/notesMaster1.xml" Id="R542a8cac756c4b4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80396b575564759" /><Relationship Type="http://schemas.openxmlformats.org/officeDocument/2006/relationships/notesMaster" Target="/ppt/notesMasters/notesMaster1.xml" Id="R56ba1478786744a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e21b8dd2f1340ef" /><Relationship Type="http://schemas.openxmlformats.org/officeDocument/2006/relationships/notesMaster" Target="/ppt/notesMasters/notesMaster1.xml" Id="Rbbfa3f7465a4430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6c8d3a682aa4eec" /><Relationship Type="http://schemas.openxmlformats.org/officeDocument/2006/relationships/notesMaster" Target="/ppt/notesMasters/notesMaster1.xml" Id="Rd3734e605f774ce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47cbf50bb1843ca" /><Relationship Type="http://schemas.openxmlformats.org/officeDocument/2006/relationships/notesMaster" Target="/ppt/notesMasters/notesMaster1.xml" Id="Rd820ddea71db45c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8f12619b2bd476a" /><Relationship Type="http://schemas.openxmlformats.org/officeDocument/2006/relationships/notesMaster" Target="/ppt/notesMasters/notesMaster1.xml" Id="R282c9510a35f433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ba2b828cab14ea7" /><Relationship Type="http://schemas.openxmlformats.org/officeDocument/2006/relationships/notesMaster" Target="/ppt/notesMasters/notesMaster1.xml" Id="R21ffbc1fff8a429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Alinne, 40 s. Apresentar título, turma, professora e os quatro autores. Versão do produto e apresentação: 20/10/2026. Captura real da aplicação local, sem participantes. O grupo ainda não aplicou o jogo com estudantes.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Alinne, 60 s. O produto oferece uma revisão colaborativa. Não substitui a coleta de dados no laboratório. Fonte: relatório do projeto, seções 2 e 3. Referências: AAPT (2014), https://www.aapt.org/resources/upload/labguidlinesdocument_ebendorsed_nov10.pdf; Trumper (2002), https://doi.org/10.1023/A:1016016417872.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Alinne, 50 s. As fontes apoiam escolhas de desenho pedagógico e não comprovam a eficácia deste produto específico. Freeman et al. (2014), https://doi.org/10.1073/pnas.1319030111. Hattie e Timperley (2007), https://doi.org/10.3102/003465430298487. Sasseron (2015), https://doi.org/10.1590/1983-2117201517s04. Veldkamp et al. (2020), https://doi.org/10.1016/j.edurev.2020.100364.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Matheus, 55 s. Mostrar no produto ou na captura a sequência linear. A narrativa trabalha a recuperação de um relatório fictício. São 19 desafios distribuídos em cinco missões. Fonte: implementação local LabMotion/site/app/page.tsx e captura real da tela de mapa.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Matheus, 55 s. Informar que os tempos são de planejamento e ainda não foram medidos com estudantes. A versão portátil abre o arquivo LabMotion.html e não exige hospedagem para a atividade preparada. Registros ficam no navegador quando o armazenamento está disponível e podem ser exportados em JSON no final. Fonte: código e roteiro de aplicação do projeto.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João Charles, 60 s. Se houver demonstração, selecionar a alternativa incorreta 4,10 cm e explicar o feedback. A soma das dez medidas é 41,17 cm. A resolução do instrumento é 0,01 cm, mas o jogo fornece uc = 0,01 cm para trabalhar a escrita. Não afirmar que a resolução produz universalmente essa incerteza. Fonte: conjunto didático e código local. Fundamento metrológico: JCGM 100:2008, https://doi.org/10.59161/JCGM100-2008E.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João Charles, 65 s. Fonte dos pontos: t=[0,10;0,20;0,30;0,40;0,50] s e d=[0,51;0,59;0,72;0,80;0,92] m. Mínimos quadrados ordinários produzem inclinação 1,03, intercepto 0,399 e R² aproximadamente 0,9944693. Série do ajuste avaliada nos mesmos tempos. Os dados são didáticos, não nova coleta dos autores.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Arielly, 65 s. O gráfico esquerdo representa posição em função do tempo junto à lei quadrática idealizada. À direita, os mesmos dados em função de t² formam uma reta. Fonte: valores idealizados do jogo d=[0;0,05;0,20;0,45;0,80] m, t=[0;0,5;1;1,5;2] s. Aplicar a transformação simples exige v0 aproximadamente zero. Não usar esses pontos idealizados como evidência de uma coleta real.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Arielly, 70 s. Distinguir claramente a existência de recursos e os testes técnicos dos resultados de aprendizagem. O grupo informou que ainda não aplicou o produto. A escala de seis pontos é coletiva na sessão digital. Um protocolo individual exige respostas separadas antes e depois, emparelhadas por código. Rubrica e questionário são instrumentos complementares. A pontuação lúdica tem máximo de 265, não equivale a essas escalas.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Arielly, 60 s. Concluir que o produto foi implementado para apoiar a revisão. Sua eficácia ainda precisa de avaliação com estudantes. Disponibilizar jogo, relatório, roteiro e gabarito. Referências completas: Freeman et al., PNAS 111(23), 8410–8415, https://doi.org/10.1073/pnas.1319030111. Hattie e Timperley, RER 77(1),81–112, https://doi.org/10.3102/003465430298487. JCGM 100:2008, https://doi.org/10.59161/JCGM100-2008E. Veldkamp et al., ERR31,100364, https://doi.org/10.1016/j.edurev.2020.100364.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4cc78b4ed4a4c1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4414288a7a0480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f01e3f0c7e4ba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dc0c262854408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4f70e2b5a374a0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9d11270a4245e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50B0857-5104-4CE0-97C0-64804E490E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E66D379-01D8-4189-AF54-A80F365AF03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27668DE-F308-4AD6-8195-458BA6FA977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76AA2D4-4219-46A6-B71B-35CE74124EE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6F4CEFB8-77E5-4962-91C0-DF2D346B3B9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DDBDC18-DCF9-4437-9E83-BED94F79099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B954B8A-4710-4DD6-9CA8-30984F35FA9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B392A0F2-B3C3-46EE-8C49-B46269ED613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0514CA3-17F0-48A5-8AAE-32F777EF8EF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958B8F9-AE82-41F0-BB17-F92D243D77D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90ee44b3d1b4965" /><Relationship Type="http://schemas.openxmlformats.org/officeDocument/2006/relationships/slideLayout" Target="/ppt/slideLayouts/slideLayout1.xml" Id="R419495ed28fb470a" /><Relationship Type="http://schemas.openxmlformats.org/officeDocument/2006/relationships/slideLayout" Target="/ppt/slideLayouts/slideLayout2.xml" Id="Rbfb5a12608614e45" /><Relationship Type="http://schemas.openxmlformats.org/officeDocument/2006/relationships/slideLayout" Target="/ppt/slideLayouts/slideLayout3.xml" Id="R06665740ec6b4142" /><Relationship Type="http://schemas.openxmlformats.org/officeDocument/2006/relationships/slideLayout" Target="/ppt/slideLayouts/slideLayout4.xml" Id="R33d1b9db072a4cce" /><Relationship Type="http://schemas.openxmlformats.org/officeDocument/2006/relationships/slideLayout" Target="/ppt/slideLayouts/slideLayout5.xml" Id="R0d45720f56d248fe" /><Relationship Type="http://schemas.openxmlformats.org/officeDocument/2006/relationships/slideLayout" Target="/ppt/slideLayouts/slideLayout6.xml" Id="R1e1cd17c8ed04bb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19495ed28fb470a"/>
    <p:sldLayoutId xmlns:r="http://schemas.openxmlformats.org/officeDocument/2006/relationships" id="2147483650" r:id="Rbfb5a12608614e45"/>
    <p:sldLayoutId xmlns:r="http://schemas.openxmlformats.org/officeDocument/2006/relationships" id="2147483651" r:id="R06665740ec6b4142"/>
    <p:sldLayoutId xmlns:r="http://schemas.openxmlformats.org/officeDocument/2006/relationships" id="2147483652" r:id="R33d1b9db072a4cce"/>
    <p:sldLayoutId xmlns:r="http://schemas.openxmlformats.org/officeDocument/2006/relationships" id="2147483653" r:id="R0d45720f56d248fe"/>
    <p:sldLayoutId xmlns:r="http://schemas.openxmlformats.org/officeDocument/2006/relationships" id="2147483654" r:id="R1e1cd17c8ed04bb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21ef929c7194897" /><Relationship Type="http://schemas.openxmlformats.org/officeDocument/2006/relationships/image" Target="/ppt/media/image.jpeg" Id="R7e221d627d5841f3" /><Relationship Type="http://schemas.openxmlformats.org/officeDocument/2006/relationships/notesSlide" Target="/ppt/notesSlides/notesSlide1.xml" Id="Rf0405aaa6a3d46d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724568a6d544890" /><Relationship Type="http://schemas.openxmlformats.org/officeDocument/2006/relationships/notesSlide" Target="/ppt/notesSlides/notesSlide2.xml" Id="Rb4cd5e8dfd4d456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5a8a1eeef794425" /><Relationship Type="http://schemas.openxmlformats.org/officeDocument/2006/relationships/notesSlide" Target="/ppt/notesSlides/notesSlide3.xml" Id="R90dcda6e9030493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13792429c5c494a" /><Relationship Type="http://schemas.openxmlformats.org/officeDocument/2006/relationships/image" Target="/ppt/media/image2.jpeg" Id="R6b425244f7db4e87" /><Relationship Type="http://schemas.openxmlformats.org/officeDocument/2006/relationships/notesSlide" Target="/ppt/notesSlides/notesSlide4.xml" Id="R8cd0674a32d3450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9a85c66355d43b4" /><Relationship Type="http://schemas.openxmlformats.org/officeDocument/2006/relationships/image" Target="/ppt/media/image3.jpeg" Id="R363956354d604f25" /><Relationship Type="http://schemas.openxmlformats.org/officeDocument/2006/relationships/notesSlide" Target="/ppt/notesSlides/notesSlide5.xml" Id="R901b3af90db0445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dfee32841734d90" /><Relationship Type="http://schemas.openxmlformats.org/officeDocument/2006/relationships/image" Target="/ppt/media/image4.jpeg" Id="Re6bd5194a6954b60" /><Relationship Type="http://schemas.openxmlformats.org/officeDocument/2006/relationships/notesSlide" Target="/ppt/notesSlides/notesSlide6.xml" Id="R907c9199ced44c8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eacb46a64a941a9" /><Relationship Type="http://schemas.openxmlformats.org/officeDocument/2006/relationships/chart" Target="/ppt/slides/charts/chart1.xml" Id="R95b0394c4ee644f0" /><Relationship Type="http://schemas.openxmlformats.org/officeDocument/2006/relationships/notesSlide" Target="/ppt/notesSlides/notesSlide7.xml" Id="Rf017254f23724a0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a2e82d1c3b6472e" /><Relationship Type="http://schemas.openxmlformats.org/officeDocument/2006/relationships/chart" Target="/ppt/slides/charts/chart2.xml" Id="R7939fa167e094894" /><Relationship Type="http://schemas.openxmlformats.org/officeDocument/2006/relationships/chart" Target="/ppt/slides/charts/chart3.xml" Id="Rbfec8df850f44e1e" /><Relationship Type="http://schemas.openxmlformats.org/officeDocument/2006/relationships/notesSlide" Target="/ppt/notesSlides/notesSlide8.xml" Id="R54d9accefc1c44e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e451e99c8fc4e9b" /><Relationship Type="http://schemas.openxmlformats.org/officeDocument/2006/relationships/notesSlide" Target="/ppt/notesSlides/notesSlide9.xml" Id="R676f2f8b12cf4d9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21eb71df2214b77" /><Relationship Type="http://schemas.openxmlformats.org/officeDocument/2006/relationships/notesSlide" Target="/ppt/notesSlides/notesSlide10.xml" Id="R607d8592a533423b" /></Relationships>
</file>

<file path=ppt/slides/charts/chart1.xml><?xml version="1.0" encoding="utf-8"?>
<c:chartSpace xmlns:c="http://schemas.openxmlformats.org/drawingml/2006/chart">
  <c:lang val="en-US"/>
  <c:chart>
    <c:plotArea>
      <c:scatterChart>
        <c:scatterStyle val="lineMarker"/>
        <c:varyColors val="0"/>
        <c:ser>
          <c:idx val="0"/>
          <c:order val="0"/>
          <c:tx>
            <c:v>Dados didáticos</c:v>
          </c:tx>
          <c:spPr>
            <a:solidFill xmlns:a="http://schemas.openxmlformats.org/drawingml/2006/main">
              <a:srgbClr val="D94325"/>
            </a:solidFill>
            <a:ln xmlns:a="http://schemas.openxmlformats.org/drawingml/2006/main" w="0">
              <a:solidFill>
                <a:srgbClr val="D94325"/>
              </a:solidFill>
              <a:prstDash val="solid"/>
            </a:ln>
          </c:spPr>
          <c:marker>
            <c:symbol val="circle"/>
            <c:size val="8"/>
            <c:spPr>
              <a:solidFill xmlns:a="http://schemas.openxmlformats.org/drawingml/2006/main">
                <a:srgbClr val="D94325"/>
              </a:solidFill>
            </c:spPr>
          </c:marker>
          <c:xVal>
            <c:numLit>
              <c:formatCode>0.00</c:formatCode>
              <c:ptCount val="5"/>
              <c:pt idx="0">
                <c:v>0.1</c:v>
              </c:pt>
              <c:pt idx="1">
                <c:v>0.2</c:v>
              </c:pt>
              <c:pt idx="2">
                <c:v>0.3</c:v>
              </c:pt>
              <c:pt idx="3">
                <c:v>0.4</c:v>
              </c:pt>
              <c:pt idx="4">
                <c:v>0.5</c:v>
              </c:pt>
            </c:numLit>
          </c:xVal>
          <c:yVal>
            <c:numLit>
              <c:formatCode>0.00</c:formatCode>
              <c:ptCount val="5"/>
              <c:pt idx="0">
                <c:v>0.51</c:v>
              </c:pt>
              <c:pt idx="1">
                <c:v>0.59</c:v>
              </c:pt>
              <c:pt idx="2">
                <c:v>0.72</c:v>
              </c:pt>
              <c:pt idx="3">
                <c:v>0.8</c:v>
              </c:pt>
              <c:pt idx="4">
                <c:v>0.92</c:v>
              </c:pt>
            </c:numLit>
          </c:yVal>
        </c:ser>
        <c:ser>
          <c:idx val="1"/>
          <c:order val="1"/>
          <c:tx>
            <c:v>Ajuste linear</c:v>
          </c:tx>
          <c:spPr>
            <a:solidFill xmlns:a="http://schemas.openxmlformats.org/drawingml/2006/main">
              <a:srgbClr val="7861B6"/>
            </a:solidFill>
            <a:ln xmlns:a="http://schemas.openxmlformats.org/drawingml/2006/main" w="23813">
              <a:solidFill>
                <a:srgbClr val="7861B6"/>
              </a:solidFill>
              <a:prstDash val="solid"/>
            </a:ln>
          </c:spPr>
          <c:marker>
            <c:symbol val="none"/>
            <c:size val="8"/>
            <c:spPr>
              <a:solidFill xmlns:a="http://schemas.openxmlformats.org/drawingml/2006/main">
                <a:srgbClr val="7861B6"/>
              </a:solidFill>
            </c:spPr>
          </c:marker>
          <c:xVal>
            <c:numLit>
              <c:formatCode>0.00</c:formatCode>
              <c:ptCount val="5"/>
              <c:pt idx="0">
                <c:v>0.1</c:v>
              </c:pt>
              <c:pt idx="1">
                <c:v>0.2</c:v>
              </c:pt>
              <c:pt idx="2">
                <c:v>0.3</c:v>
              </c:pt>
              <c:pt idx="3">
                <c:v>0.4</c:v>
              </c:pt>
              <c:pt idx="4">
                <c:v>0.5</c:v>
              </c:pt>
            </c:numLit>
          </c:xVal>
          <c:yVal>
            <c:numLit>
              <c:formatCode>0.00</c:formatCode>
              <c:ptCount val="5"/>
              <c:pt idx="0">
                <c:v>0.502</c:v>
              </c:pt>
              <c:pt idx="1">
                <c:v>0.605</c:v>
              </c:pt>
              <c:pt idx="2">
                <c:v>0.708</c:v>
              </c:pt>
              <c:pt idx="3">
                <c:v>0.811</c:v>
              </c:pt>
              <c:pt idx="4">
                <c:v>0.914</c:v>
              </c:pt>
            </c:numLit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D9D9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Posição d (m)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</c:valAx>
      <c:val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Tempo t (s)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161616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0.1"/>
      </c:valAx>
      <c:spPr>
        <a:solidFill xmlns:a="http://schemas.openxmlformats.org/drawingml/2006/main">
          <a:srgbClr val="F7F3EA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>
              <a:solidFill>
                <a:srgbClr val="161616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7F3EA"/>
    </a:solidFill>
    <a:ln xmlns:a="http://schemas.openxmlformats.org/drawingml/2006/main" w="0">
      <a:noFill/>
    </a:ln>
  </c:spPr>
</c:chartSpace>
</file>

<file path=ppt/slides/charts/chart2.xml><?xml version="1.0" encoding="utf-8"?>
<c:chartSpace xmlns:c="http://schemas.openxmlformats.org/drawingml/2006/chart">
  <c:lang val="en-US"/>
  <c:chart>
    <c:plotArea>
      <c:scatterChart>
        <c:scatterStyle val="lineMarker"/>
        <c:varyColors val="0"/>
        <c:ser>
          <c:idx val="0"/>
          <c:order val="0"/>
          <c:tx>
            <c:v>Dados didáticos</c:v>
          </c:tx>
          <c:spPr>
            <a:solidFill xmlns:a="http://schemas.openxmlformats.org/drawingml/2006/main">
              <a:srgbClr val="D94325"/>
            </a:solidFill>
            <a:ln xmlns:a="http://schemas.openxmlformats.org/drawingml/2006/main" w="0">
              <a:solidFill>
                <a:srgbClr val="D94325"/>
              </a:solidFill>
              <a:prstDash val="solid"/>
            </a:ln>
          </c:spPr>
          <c:marker>
            <c:symbol val="circle"/>
            <c:size val="8"/>
            <c:spPr>
              <a:solidFill xmlns:a="http://schemas.openxmlformats.org/drawingml/2006/main">
                <a:srgbClr val="D94325"/>
              </a:solidFill>
            </c:spPr>
          </c:marker>
          <c:xVal>
            <c:numLit>
              <c:formatCode>0.00</c:formatCode>
              <c:ptCount val="5"/>
              <c:pt idx="0">
                <c:v>0</c:v>
              </c:pt>
              <c:pt idx="1">
                <c:v>0.5</c:v>
              </c:pt>
              <c:pt idx="2">
                <c:v>1</c:v>
              </c:pt>
              <c:pt idx="3">
                <c:v>1.5</c:v>
              </c:pt>
              <c:pt idx="4">
                <c:v>2</c:v>
              </c:pt>
            </c:numLit>
          </c:xVal>
          <c:yVal>
            <c:numLit>
              <c:formatCode>0.00</c:formatCode>
              <c:ptCount val="5"/>
              <c:pt idx="0">
                <c:v>0</c:v>
              </c:pt>
              <c:pt idx="1">
                <c:v>0.05</c:v>
              </c:pt>
              <c:pt idx="2">
                <c:v>0.2</c:v>
              </c:pt>
              <c:pt idx="3">
                <c:v>0.45</c:v>
              </c:pt>
              <c:pt idx="4">
                <c:v>0.8</c:v>
              </c:pt>
            </c:numLit>
          </c:yVal>
        </c:ser>
        <c:ser>
          <c:idx val="1"/>
          <c:order val="1"/>
          <c:tx>
            <c:v>Modelo quadrático</c:v>
          </c:tx>
          <c:spPr>
            <a:solidFill xmlns:a="http://schemas.openxmlformats.org/drawingml/2006/main">
              <a:srgbClr val="7861B6"/>
            </a:solidFill>
            <a:ln xmlns:a="http://schemas.openxmlformats.org/drawingml/2006/main" w="23813">
              <a:solidFill>
                <a:srgbClr val="7861B6"/>
              </a:solidFill>
              <a:prstDash val="solid"/>
            </a:ln>
          </c:spPr>
          <c:marker>
            <c:symbol val="none"/>
            <c:size val="8"/>
            <c:spPr>
              <a:solidFill xmlns:a="http://schemas.openxmlformats.org/drawingml/2006/main">
                <a:srgbClr val="7861B6"/>
              </a:solidFill>
            </c:spPr>
          </c:marker>
          <c:xVal>
            <c:numLit>
              <c:formatCode>0.00</c:formatCode>
              <c:ptCount val="21"/>
              <c:pt idx="0">
                <c:v>0</c:v>
              </c:pt>
              <c:pt idx="1">
                <c:v>0.1</c:v>
              </c:pt>
              <c:pt idx="2">
                <c:v>0.2</c:v>
              </c:pt>
              <c:pt idx="3">
                <c:v>0.3</c:v>
              </c:pt>
              <c:pt idx="4">
                <c:v>0.4</c:v>
              </c:pt>
              <c:pt idx="5">
                <c:v>0.5</c:v>
              </c:pt>
              <c:pt idx="6">
                <c:v>0.6</c:v>
              </c:pt>
              <c:pt idx="7">
                <c:v>0.7</c:v>
              </c:pt>
              <c:pt idx="8">
                <c:v>0.8</c:v>
              </c:pt>
              <c:pt idx="9">
                <c:v>0.9</c:v>
              </c:pt>
              <c:pt idx="10">
                <c:v>1</c:v>
              </c:pt>
              <c:pt idx="11">
                <c:v>1.1</c:v>
              </c:pt>
              <c:pt idx="12">
                <c:v>1.2</c:v>
              </c:pt>
              <c:pt idx="13">
                <c:v>1.3</c:v>
              </c:pt>
              <c:pt idx="14">
                <c:v>1.4</c:v>
              </c:pt>
              <c:pt idx="15">
                <c:v>1.5</c:v>
              </c:pt>
              <c:pt idx="16">
                <c:v>1.6</c:v>
              </c:pt>
              <c:pt idx="17">
                <c:v>1.7</c:v>
              </c:pt>
              <c:pt idx="18">
                <c:v>1.8</c:v>
              </c:pt>
              <c:pt idx="19">
                <c:v>1.9</c:v>
              </c:pt>
              <c:pt idx="20">
                <c:v>2</c:v>
              </c:pt>
            </c:numLit>
          </c:xVal>
          <c:yVal>
            <c:numLit>
              <c:formatCode>0.00</c:formatCode>
              <c:ptCount val="21"/>
              <c:pt idx="0">
                <c:v>0</c:v>
              </c:pt>
              <c:pt idx="1">
                <c:v>0.0020000000000000005</c:v>
              </c:pt>
              <c:pt idx="2">
                <c:v>0.008000000000000002</c:v>
              </c:pt>
              <c:pt idx="3">
                <c:v>0.018</c:v>
              </c:pt>
              <c:pt idx="4">
                <c:v>0.03200000000000001</c:v>
              </c:pt>
              <c:pt idx="5">
                <c:v>0.05</c:v>
              </c:pt>
              <c:pt idx="6">
                <c:v>0.072</c:v>
              </c:pt>
              <c:pt idx="7">
                <c:v>0.09799999999999999</c:v>
              </c:pt>
              <c:pt idx="8">
                <c:v>0.12800000000000003</c:v>
              </c:pt>
              <c:pt idx="9">
                <c:v>0.16200000000000003</c:v>
              </c:pt>
              <c:pt idx="10">
                <c:v>0.2</c:v>
              </c:pt>
              <c:pt idx="11">
                <c:v>0.24200000000000005</c:v>
              </c:pt>
              <c:pt idx="12">
                <c:v>0.288</c:v>
              </c:pt>
              <c:pt idx="13">
                <c:v>0.338</c:v>
              </c:pt>
              <c:pt idx="14">
                <c:v>0.39199999999999996</c:v>
              </c:pt>
              <c:pt idx="15">
                <c:v>0.45000000000000007</c:v>
              </c:pt>
              <c:pt idx="16">
                <c:v>0.5120000000000001</c:v>
              </c:pt>
              <c:pt idx="17">
                <c:v>0.5780000000000001</c:v>
              </c:pt>
              <c:pt idx="18">
                <c:v>0.6480000000000001</c:v>
              </c:pt>
              <c:pt idx="19">
                <c:v>0.722</c:v>
              </c:pt>
              <c:pt idx="20">
                <c:v>0.8</c:v>
              </c:pt>
            </c:numLit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D9D9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Posição d (m)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</c:valAx>
      <c:val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Tempo t (s)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161616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0.5"/>
      </c:valAx>
      <c:spPr>
        <a:solidFill xmlns:a="http://schemas.openxmlformats.org/drawingml/2006/main">
          <a:srgbClr val="F7F3EA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>
              <a:solidFill>
                <a:srgbClr val="161616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7F3EA"/>
    </a:solidFill>
    <a:ln xmlns:a="http://schemas.openxmlformats.org/drawingml/2006/main" w="0">
      <a:noFill/>
    </a:ln>
  </c:spPr>
</c:chartSpace>
</file>

<file path=ppt/slides/charts/chart3.xml><?xml version="1.0" encoding="utf-8"?>
<c:chartSpace xmlns:c="http://schemas.openxmlformats.org/drawingml/2006/chart">
  <c:lang val="en-US"/>
  <c:chart>
    <c:plotArea>
      <c:scatterChart>
        <c:scatterStyle val="lineMarker"/>
        <c:varyColors val="0"/>
        <c:ser>
          <c:idx val="0"/>
          <c:order val="0"/>
          <c:tx>
            <c:v>Dados didáticos</c:v>
          </c:tx>
          <c:spPr>
            <a:solidFill xmlns:a="http://schemas.openxmlformats.org/drawingml/2006/main">
              <a:srgbClr val="D94325"/>
            </a:solidFill>
            <a:ln xmlns:a="http://schemas.openxmlformats.org/drawingml/2006/main" w="0">
              <a:solidFill>
                <a:srgbClr val="D94325"/>
              </a:solidFill>
              <a:prstDash val="solid"/>
            </a:ln>
          </c:spPr>
          <c:marker>
            <c:symbol val="circle"/>
            <c:size val="8"/>
            <c:spPr>
              <a:solidFill xmlns:a="http://schemas.openxmlformats.org/drawingml/2006/main">
                <a:srgbClr val="D94325"/>
              </a:solidFill>
            </c:spPr>
          </c:marker>
          <c:xVal>
            <c:numLit>
              <c:formatCode>0.00</c:formatCode>
              <c:ptCount val="5"/>
              <c:pt idx="0">
                <c:v>0</c:v>
              </c:pt>
              <c:pt idx="1">
                <c:v>0.25</c:v>
              </c:pt>
              <c:pt idx="2">
                <c:v>1</c:v>
              </c:pt>
              <c:pt idx="3">
                <c:v>2.25</c:v>
              </c:pt>
              <c:pt idx="4">
                <c:v>4</c:v>
              </c:pt>
            </c:numLit>
          </c:xVal>
          <c:yVal>
            <c:numLit>
              <c:formatCode>0.00</c:formatCode>
              <c:ptCount val="5"/>
              <c:pt idx="0">
                <c:v>0</c:v>
              </c:pt>
              <c:pt idx="1">
                <c:v>0.05</c:v>
              </c:pt>
              <c:pt idx="2">
                <c:v>0.2</c:v>
              </c:pt>
              <c:pt idx="3">
                <c:v>0.45</c:v>
              </c:pt>
              <c:pt idx="4">
                <c:v>0.8</c:v>
              </c:pt>
            </c:numLit>
          </c:yVal>
        </c:ser>
        <c:ser>
          <c:idx val="1"/>
          <c:order val="1"/>
          <c:tx>
            <c:v>Modelo linearizado</c:v>
          </c:tx>
          <c:spPr>
            <a:solidFill xmlns:a="http://schemas.openxmlformats.org/drawingml/2006/main">
              <a:srgbClr val="7861B6"/>
            </a:solidFill>
            <a:ln xmlns:a="http://schemas.openxmlformats.org/drawingml/2006/main" w="23813">
              <a:solidFill>
                <a:srgbClr val="7861B6"/>
              </a:solidFill>
              <a:prstDash val="solid"/>
            </a:ln>
          </c:spPr>
          <c:marker>
            <c:symbol val="none"/>
            <c:size val="8"/>
            <c:spPr>
              <a:solidFill xmlns:a="http://schemas.openxmlformats.org/drawingml/2006/main">
                <a:srgbClr val="7861B6"/>
              </a:solidFill>
            </c:spPr>
          </c:marker>
          <c:xVal>
            <c:numLit>
              <c:formatCode>0.00</c:formatCode>
              <c:ptCount val="5"/>
              <c:pt idx="0">
                <c:v>0</c:v>
              </c:pt>
              <c:pt idx="1">
                <c:v>0.25</c:v>
              </c:pt>
              <c:pt idx="2">
                <c:v>1</c:v>
              </c:pt>
              <c:pt idx="3">
                <c:v>2.25</c:v>
              </c:pt>
              <c:pt idx="4">
                <c:v>4</c:v>
              </c:pt>
            </c:numLit>
          </c:xVal>
          <c:yVal>
            <c:numLit>
              <c:formatCode>0.00</c:formatCode>
              <c:ptCount val="5"/>
              <c:pt idx="0">
                <c:v>0</c:v>
              </c:pt>
              <c:pt idx="1">
                <c:v>0.05</c:v>
              </c:pt>
              <c:pt idx="2">
                <c:v>0.2</c:v>
              </c:pt>
              <c:pt idx="3">
                <c:v>0.45</c:v>
              </c:pt>
              <c:pt idx="4">
                <c:v>0.8</c:v>
              </c:pt>
            </c:numLit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D9D9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Posição d (m)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</c:valAx>
      <c:val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Tempo ao quadrado t² (s²)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161616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1"/>
      </c:valAx>
      <c:spPr>
        <a:solidFill xmlns:a="http://schemas.openxmlformats.org/drawingml/2006/main">
          <a:srgbClr val="F7F3EA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>
              <a:solidFill>
                <a:srgbClr val="161616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7F3EA"/>
    </a:solidFill>
    <a:ln xmlns:a="http://schemas.openxmlformats.org/drawingml/2006/main" w="0">
      <a:noFill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B7D3D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B0BF3C-9314-4FEB-98F4-EC86D23EE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09600"/>
            <a:ext cx="5429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57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>
              <a:defRPr sz="57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>
              <a:defRPr sz="57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>
              <a:defRPr sz="57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>
              <a:defRPr sz="57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>
              <a:defRPr sz="57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>
              <a:defRPr sz="57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>
              <a:defRPr sz="57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>
              <a:defRPr sz="57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>
              <a:defRPr sz="57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57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LabMotion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83E58B-6742-4CA1-9F01-6C421C713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1581150"/>
            <a:ext cx="4762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00" b="1">
                <a:solidFill>
                  <a:srgbClr val="D94325"/>
                </a:solidFill>
                <a:latin typeface="Arial"/>
                <a:ea typeface="Arial"/>
                <a:cs typeface="Arial"/>
              </a:defRPr>
            </a:defPPr>
            <a:lvl1pPr>
              <a:defRPr sz="2700" b="1">
                <a:solidFill>
                  <a:srgbClr val="D94325"/>
                </a:solidFill>
                <a:latin typeface="Arial"/>
                <a:ea typeface="Arial"/>
                <a:cs typeface="Arial"/>
              </a:defRPr>
            </a:lvl1pPr>
            <a:lvl2pPr>
              <a:defRPr sz="2700" b="1">
                <a:solidFill>
                  <a:srgbClr val="D94325"/>
                </a:solidFill>
                <a:latin typeface="Arial"/>
                <a:ea typeface="Arial"/>
                <a:cs typeface="Arial"/>
              </a:defRPr>
            </a:lvl2pPr>
            <a:lvl3pPr>
              <a:defRPr sz="2700" b="1">
                <a:solidFill>
                  <a:srgbClr val="D94325"/>
                </a:solidFill>
                <a:latin typeface="Arial"/>
                <a:ea typeface="Arial"/>
                <a:cs typeface="Arial"/>
              </a:defRPr>
            </a:lvl3pPr>
            <a:lvl4pPr>
              <a:defRPr sz="2700" b="1">
                <a:solidFill>
                  <a:srgbClr val="D94325"/>
                </a:solidFill>
                <a:latin typeface="Arial"/>
                <a:ea typeface="Arial"/>
                <a:cs typeface="Arial"/>
              </a:defRPr>
            </a:lvl4pPr>
            <a:lvl5pPr>
              <a:defRPr sz="2700" b="1">
                <a:solidFill>
                  <a:srgbClr val="D94325"/>
                </a:solidFill>
                <a:latin typeface="Arial"/>
                <a:ea typeface="Arial"/>
                <a:cs typeface="Arial"/>
              </a:defRPr>
            </a:lvl5pPr>
            <a:lvl6pPr>
              <a:defRPr sz="2700" b="1">
                <a:solidFill>
                  <a:srgbClr val="D94325"/>
                </a:solidFill>
                <a:latin typeface="Arial"/>
                <a:ea typeface="Arial"/>
                <a:cs typeface="Arial"/>
              </a:defRPr>
            </a:lvl6pPr>
            <a:lvl7pPr>
              <a:defRPr sz="2700" b="1">
                <a:solidFill>
                  <a:srgbClr val="D94325"/>
                </a:solidFill>
                <a:latin typeface="Arial"/>
                <a:ea typeface="Arial"/>
                <a:cs typeface="Arial"/>
              </a:defRPr>
            </a:lvl7pPr>
            <a:lvl8pPr>
              <a:defRPr sz="2700" b="1">
                <a:solidFill>
                  <a:srgbClr val="D94325"/>
                </a:solidFill>
                <a:latin typeface="Arial"/>
                <a:ea typeface="Arial"/>
                <a:cs typeface="Arial"/>
              </a:defRPr>
            </a:lvl8pPr>
            <a:lvl9pPr>
              <a:defRPr sz="2700" b="1">
                <a:solidFill>
                  <a:srgbClr val="D9432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D9432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D94325"/>
                </a:solidFill>
                <a:latin typeface="Arial"/>
                <a:ea typeface="Arial"/>
                <a:cs typeface="Arial"/>
              </a:rPr>
              <a:t>Do dado à lei física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A75EF8-7E9B-4E93-BD25-93EBD4498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409825"/>
            <a:ext cx="4667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Produto educacional de</a:t>
            </a:r>
          </a:p>
          <a:p xmlns:a="http://schemas.openxmlformats.org/drawingml/2006/main">
            <a:pPr>
              <a:defRPr sz="22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Física Experimental A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BC2619-6CAE-4184-8D13-17F0AD0255B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221d627d5841f3"/>
          <a:stretch xmlns:a="http://schemas.openxmlformats.org/drawingml/2006/main"/>
        </p:blipFill>
        <p:spPr>
          <a:xfrm xmlns:a="http://schemas.openxmlformats.org/drawingml/2006/main">
            <a:off x="5762625" y="724134"/>
            <a:ext cx="5810250" cy="3314233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BAB215-B47D-4579-88B5-16BC0C3B2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686175"/>
            <a:ext cx="452437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UNIVASF</a:t>
            </a:r>
          </a:p>
          <a:p xmlns:a="http://schemas.openxmlformats.org/drawingml/2006/main">
            <a:pPr>
              <a:defRPr sz="19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Profa. Mariele Pinheiro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AA4ACB-6CBE-42EF-A599-27726F701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857750"/>
            <a:ext cx="100012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Alinne de Souza Santos Castro</a:t>
            </a:r>
          </a:p>
          <a:p xmlns:a="http://schemas.openxmlformats.org/drawingml/2006/main">
            <a:pPr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Matheus Souza da Silva Leite</a:t>
            </a:r>
          </a:p>
          <a:p xmlns:a="http://schemas.openxmlformats.org/drawingml/2006/main">
            <a:pPr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João Charles Farias Gomes Junior</a:t>
            </a:r>
          </a:p>
          <a:p xmlns:a="http://schemas.openxmlformats.org/drawingml/2006/main">
            <a:pPr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Arielly Ferreira Marques de Lima</a:t>
            </a:r>
          </a:p>
        </p:txBody>
      </p:sp>
    </p:spTree>
    <p:extLst>
      <p:ext uri="{BB962C8B-B14F-4D97-AF65-F5344CB8AC3E}">
        <p14:creationId xmlns:p14="http://schemas.microsoft.com/office/powerpoint/2010/main" val="60273305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F6205D-8514-4D87-8C85-2F3433759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8625"/>
            <a:ext cx="10858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4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Problema e objetivo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D6BBBD-331A-45F0-8556-62EFAF3F8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62100"/>
            <a:ext cx="10382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925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>
              <a:defRPr sz="2925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>
              <a:defRPr sz="2925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>
              <a:defRPr sz="2925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>
              <a:defRPr sz="2925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>
              <a:defRPr sz="2925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>
              <a:defRPr sz="2925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>
              <a:defRPr sz="2925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>
              <a:defRPr sz="2925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>
              <a:defRPr sz="2925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Interpretar dados exige explicar</a:t>
            </a:r>
          </a:p>
          <a:p xmlns:a="http://schemas.openxmlformats.org/drawingml/2006/main">
            <a:pPr>
              <a:defRPr sz="2925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o significado físico dos resultados.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91A44E-9542-4762-AD9D-3E9277707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38475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1">
                <a:solidFill>
                  <a:srgbClr val="D94325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D94325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D94325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D94325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D94325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D94325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D94325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D94325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D94325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D9432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D94325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D94325"/>
                </a:solidFill>
                <a:latin typeface="Arial"/>
                <a:ea typeface="Arial"/>
                <a:cs typeface="Arial"/>
              </a:rPr>
              <a:t>Dificuldades trabalhadas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392B32-558B-42A1-A718-2104A7A66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638550"/>
            <a:ext cx="5238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Medida sem incerteza</a:t>
            </a:r>
          </a:p>
          <a:p xmlns:a="http://schemas.openxmlformats.org/drawingml/2006/main">
            <a:pPr>
              <a:defRPr sz="21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Gráfico confundido com trajetória</a:t>
            </a:r>
          </a:p>
          <a:p xmlns:a="http://schemas.openxmlformats.org/drawingml/2006/main">
            <a:pPr>
              <a:defRPr sz="21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R² tratado como prova do modelo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801479-9792-44CD-8FBD-2C1F70B65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3038475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1">
                <a:solidFill>
                  <a:srgbClr val="7861B6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7861B6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7861B6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7861B6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7861B6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7861B6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7861B6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7861B6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7861B6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7861B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7861B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7861B6"/>
                </a:solidFill>
                <a:latin typeface="Arial"/>
                <a:ea typeface="Arial"/>
                <a:cs typeface="Arial"/>
              </a:rPr>
              <a:t>Objetivo do produto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B9654B-DDAD-4307-BD2C-A03DD72F3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3638550"/>
            <a:ext cx="500062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Apoiar a revisão de análise experimental</a:t>
            </a:r>
          </a:p>
          <a:p xmlns:a="http://schemas.openxmlformats.org/drawingml/2006/main">
            <a:pPr>
              <a:defRPr sz="21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e cinemática por decisões, feedback</a:t>
            </a:r>
          </a:p>
          <a:p xmlns:a="http://schemas.openxmlformats.org/drawingml/2006/main">
            <a:pPr>
              <a:defRPr sz="21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e conclusões baseadas em evidências.</a:t>
            </a:r>
          </a:p>
        </p:txBody>
      </p:sp>
    </p:spTree>
    <p:extLst>
      <p:ext uri="{BB962C8B-B14F-4D97-AF65-F5344CB8AC3E}">
        <p14:creationId xmlns:p14="http://schemas.microsoft.com/office/powerpoint/2010/main" val="21508132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B7D3D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1C4485-2879-4B80-9124-F62976969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8625"/>
            <a:ext cx="10858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4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Fundamentos pedagógicos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591DB1-139F-47A1-ABF5-2D63E4F97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09725"/>
            <a:ext cx="685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000" b="1">
                <a:solidFill>
                  <a:srgbClr val="D94325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D94325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D94325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D94325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D94325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D94325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D94325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D94325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D94325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D9432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D9432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D94325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9FF80F-AE3C-4245-B118-A25287B1E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1619250"/>
            <a:ext cx="990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Aprendizagem ativa</a:t>
            </a:r>
          </a:p>
          <a:p xmlns:a="http://schemas.openxmlformats.org/drawingml/2006/main">
            <a:pPr>
              <a:defRPr sz="21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A equipe compara interpretações e justifica suas escolhas.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1A88E1-4035-4C1B-AD63-50A9757F6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57525"/>
            <a:ext cx="685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000" b="1">
                <a:solidFill>
                  <a:srgbClr val="D94325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D94325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D94325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D94325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D94325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D94325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D94325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D94325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D94325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D9432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D9432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D9432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B04879-FE2B-4F03-8E2A-E6B0C86B4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067050"/>
            <a:ext cx="990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Feedback formativo</a:t>
            </a:r>
          </a:p>
          <a:p xmlns:a="http://schemas.openxmlformats.org/drawingml/2006/main">
            <a:pPr>
              <a:defRPr sz="21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Cada erro recebe uma explicação e permite nova tentativa.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E828A5-518F-4982-8DD8-9E8478025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05325"/>
            <a:ext cx="685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000" b="1">
                <a:solidFill>
                  <a:srgbClr val="D94325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D94325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D94325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D94325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D94325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D94325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D94325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D94325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D94325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D9432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D9432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D9432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66EC62-3552-450B-9F45-3879729B1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514850"/>
            <a:ext cx="990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Argumentação científica</a:t>
            </a:r>
          </a:p>
          <a:p xmlns:a="http://schemas.openxmlformats.org/drawingml/2006/main">
            <a:pPr>
              <a:defRPr sz="21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A conclusão conecta afirmação, evidência e raciocínio.</a:t>
            </a:r>
          </a:p>
        </p:txBody>
      </p:sp>
    </p:spTree>
    <p:extLst>
      <p:ext uri="{BB962C8B-B14F-4D97-AF65-F5344CB8AC3E}">
        <p14:creationId xmlns:p14="http://schemas.microsoft.com/office/powerpoint/2010/main" val="41509156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BDFFCB-D55E-4195-8271-374332288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8625"/>
            <a:ext cx="10858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4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Cinco missões para recuperar o relatório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04929E-C984-4738-9A27-4B23209B8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95425"/>
            <a:ext cx="514350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1  Medidas e incertezas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2  Gráficos científicos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3  MRU e ajuste linear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4  MRUV e linearização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5  Parecer científico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0F3C58-2B80-4B26-A6AE-58945F3D219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425244f7db4e87"/>
          <a:stretch xmlns:a="http://schemas.openxmlformats.org/drawingml/2006/main"/>
        </p:blipFill>
        <p:spPr>
          <a:xfrm xmlns:a="http://schemas.openxmlformats.org/drawingml/2006/main">
            <a:off x="6000750" y="1353545"/>
            <a:ext cx="5572125" cy="4055661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DBF85A-35F0-41C4-BE0A-040FC87DE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886450"/>
            <a:ext cx="10810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D94325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D94325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D94325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D94325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D94325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D94325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D94325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D94325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D94325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D9432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D9432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D94325"/>
                </a:solidFill>
                <a:latin typeface="Arial"/>
                <a:ea typeface="Arial"/>
                <a:cs typeface="Arial"/>
              </a:rPr>
              <a:t>O avanço exige uma justificativa da equipe.</a:t>
            </a:r>
          </a:p>
        </p:txBody>
      </p:sp>
    </p:spTree>
    <p:extLst>
      <p:ext uri="{BB962C8B-B14F-4D97-AF65-F5344CB8AC3E}">
        <p14:creationId xmlns:p14="http://schemas.microsoft.com/office/powerpoint/2010/main" val="129817259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B7D3D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C8CCB5-2421-47D1-A310-C56020CE5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8625"/>
            <a:ext cx="10858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4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Materiais e procedimento de aplicação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96F0E5-6371-4F54-8774-F9A18E13D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43050"/>
            <a:ext cx="5429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Um dispositivo por equipe</a:t>
            </a:r>
          </a:p>
          <a:p xmlns:a="http://schemas.openxmlformats.org/drawingml/2006/main">
            <a:pPr>
              <a:defRPr sz="21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3 ou 4 participantes</a:t>
            </a:r>
          </a:p>
          <a:p xmlns:a="http://schemas.openxmlformats.org/drawingml/2006/main">
            <a:pPr>
              <a:defRPr sz="21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Versão portátil no navegador</a:t>
            </a:r>
          </a:p>
          <a:p xmlns:a="http://schemas.openxmlformats.org/drawingml/2006/main">
            <a:pPr>
              <a:defRPr sz="21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Folha de registro e mediação docente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8A0F99-E1AF-4A1B-BC50-799F08D95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29050"/>
            <a:ext cx="619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325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>
              <a:defRPr sz="2325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>
              <a:defRPr sz="2325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>
              <a:defRPr sz="2325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>
              <a:defRPr sz="2325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>
              <a:defRPr sz="2325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>
              <a:defRPr sz="2325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>
              <a:defRPr sz="2325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>
              <a:defRPr sz="2325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>
              <a:defRPr sz="2325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Sessão planejada de 60 minutos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DAD9F1-85AD-49E0-AC16-17BF18D41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495800"/>
            <a:ext cx="6191250" cy="1647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5 min   Apresentação e regras</a:t>
            </a:r>
          </a:p>
          <a:p xmlns:a="http://schemas.openxmlformats.org/drawingml/2006/main">
            <a:pPr>
              <a:defRPr sz="20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7 min   Diagnóstico inicial</a:t>
            </a:r>
          </a:p>
          <a:p xmlns:a="http://schemas.openxmlformats.org/drawingml/2006/main">
            <a:pPr>
              <a:defRPr sz="20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35 min  Cinco missões</a:t>
            </a:r>
          </a:p>
          <a:p xmlns:a="http://schemas.openxmlformats.org/drawingml/2006/main">
            <a:pPr>
              <a:defRPr sz="20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8 min   Debriefing</a:t>
            </a:r>
          </a:p>
          <a:p xmlns:a="http://schemas.openxmlformats.org/drawingml/2006/main">
            <a:pPr>
              <a:defRPr sz="20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5 min   Pós-teste e encerramento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486642-FC3C-432C-95B9-0BD1AE8FDC7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3956354d604f25"/>
          <a:stretch xmlns:a="http://schemas.openxmlformats.org/drawingml/2006/main"/>
        </p:blipFill>
        <p:spPr>
          <a:xfrm xmlns:a="http://schemas.openxmlformats.org/drawingml/2006/main">
            <a:off x="7209656" y="1504950"/>
            <a:ext cx="4154437" cy="38290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468A39-4B83-42AC-88AD-5A8EA8D62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5543550"/>
            <a:ext cx="447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1">
                <a:solidFill>
                  <a:srgbClr val="D94325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D94325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D94325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D94325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D94325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D94325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D94325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D94325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D94325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D9432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D9432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D94325"/>
                </a:solidFill>
                <a:latin typeface="Arial"/>
                <a:ea typeface="Arial"/>
                <a:cs typeface="Arial"/>
              </a:rPr>
              <a:t>Dados didáticos preparados</a:t>
            </a:r>
          </a:p>
          <a:p xmlns:a="http://schemas.openxmlformats.org/drawingml/2006/main">
            <a:pPr>
              <a:defRPr sz="1875" b="1">
                <a:solidFill>
                  <a:srgbClr val="D9432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D94325"/>
                </a:solidFill>
                <a:latin typeface="Arial"/>
                <a:ea typeface="Arial"/>
                <a:cs typeface="Arial"/>
              </a:rPr>
              <a:t>para revisão conceitual</a:t>
            </a:r>
          </a:p>
        </p:txBody>
      </p:sp>
    </p:spTree>
    <p:extLst>
      <p:ext uri="{BB962C8B-B14F-4D97-AF65-F5344CB8AC3E}">
        <p14:creationId xmlns:p14="http://schemas.microsoft.com/office/powerpoint/2010/main" val="213726805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305063-D2E1-445E-8A75-D32171BD8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8625"/>
            <a:ext cx="10858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4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Medidas e feedback explicativo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A1A689-EFF0-4CB7-899B-4E363248E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19250"/>
            <a:ext cx="428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Dez leituras de comprimento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E8E6F2-7CE2-46C8-8F08-3132103A5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286000"/>
            <a:ext cx="4667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Média = 4,117 cm</a:t>
            </a:r>
          </a:p>
          <a:p xmlns:a="http://schemas.openxmlformats.org/drawingml/2006/main">
            <a:pPr>
              <a:defRPr sz="22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Escrita arredondada = 4,12 cm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95AA12-D57D-4CC5-96A1-F1A9B1726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714750"/>
            <a:ext cx="4667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550" b="1">
                <a:solidFill>
                  <a:srgbClr val="D94325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D94325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D94325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D94325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D94325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D94325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D94325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D94325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D94325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D9432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D9432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D94325"/>
                </a:solidFill>
                <a:latin typeface="Arial"/>
                <a:ea typeface="Arial"/>
                <a:cs typeface="Arial"/>
              </a:rPr>
              <a:t>No desafio de escrita:</a:t>
            </a:r>
          </a:p>
          <a:p xmlns:a="http://schemas.openxmlformats.org/drawingml/2006/main">
            <a:pPr>
              <a:defRPr sz="2550" b="1">
                <a:solidFill>
                  <a:srgbClr val="D9432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D94325"/>
                </a:solidFill>
                <a:latin typeface="Arial"/>
                <a:ea typeface="Arial"/>
                <a:cs typeface="Arial"/>
              </a:rPr>
              <a:t>(4,12 ± 0,01) cm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719180-4803-40A8-8EC1-4A0143BB8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019675"/>
            <a:ext cx="4762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A incerteza de 0,01 cm é fornecida.</a:t>
            </a:r>
          </a:p>
          <a:p xmlns:a="http://schemas.openxmlformats.org/drawingml/2006/main">
            <a:pPr>
              <a:defRPr sz="18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A resolução exige um modelo</a:t>
            </a:r>
          </a:p>
          <a:p xmlns:a="http://schemas.openxmlformats.org/drawingml/2006/main">
            <a:pPr>
              <a:defRPr sz="18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para estimar a incerteza-padrão.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0060B9-E1CB-40D5-8234-F26DA8D8D6B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bd5194a6954b60"/>
          <a:stretch xmlns:a="http://schemas.openxmlformats.org/drawingml/2006/main"/>
        </p:blipFill>
        <p:spPr>
          <a:xfrm xmlns:a="http://schemas.openxmlformats.org/drawingml/2006/main">
            <a:off x="5668759" y="1428750"/>
            <a:ext cx="5902731" cy="45624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19718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F646F4-1D0C-4EC2-BC0C-BCC1094D7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8625"/>
            <a:ext cx="10858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4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MRU e interpretação do ajuste</a:t>
            </a:r>
          </a:p>
        </p:txBody>
      </p:sp>
      <p:graphicFrame>
        <p:nvGraphicFramePr>
          <p:cNvPr id="2" name="Chart">
            <a:extLst xmlns:a="http://schemas.openxmlformats.org/drawingml/2006/main">
              <a:ext uri="{FF2B5EF4-FFF2-40B4-BE49-F238E27FC236}">
                <a16:creationId xmlns:a16="http://schemas.microsoft.com/office/drawing/2014/main" id="{31C51C4F-A65A-4FE9-A312-C9AA6B402282}"/>
              </a:ext>
            </a:extLst>
          </p:cNvPr>
          <p:cNvGraphicFramePr/>
          <p:nvPr/>
        </p:nvGraphicFramePr>
        <p:xfrm>
          <a:off xmlns:a="http://schemas.openxmlformats.org/drawingml/2006/main" x="619125" y="1428750"/>
          <a:ext xmlns:a="http://schemas.openxmlformats.org/drawingml/2006/main" cx="7048500" cy="4476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5b0394c4ee644f0"/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FDAFA5-AC83-49E0-BF44-3ADFBC204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704975"/>
            <a:ext cx="342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325" b="1">
                <a:solidFill>
                  <a:srgbClr val="D94325"/>
                </a:solidFill>
                <a:latin typeface="Arial"/>
                <a:ea typeface="Arial"/>
                <a:cs typeface="Arial"/>
              </a:defRPr>
            </a:defPPr>
            <a:lvl1pPr>
              <a:defRPr sz="2325" b="1">
                <a:solidFill>
                  <a:srgbClr val="D94325"/>
                </a:solidFill>
                <a:latin typeface="Arial"/>
                <a:ea typeface="Arial"/>
                <a:cs typeface="Arial"/>
              </a:defRPr>
            </a:lvl1pPr>
            <a:lvl2pPr>
              <a:defRPr sz="2325" b="1">
                <a:solidFill>
                  <a:srgbClr val="D94325"/>
                </a:solidFill>
                <a:latin typeface="Arial"/>
                <a:ea typeface="Arial"/>
                <a:cs typeface="Arial"/>
              </a:defRPr>
            </a:lvl2pPr>
            <a:lvl3pPr>
              <a:defRPr sz="2325" b="1">
                <a:solidFill>
                  <a:srgbClr val="D94325"/>
                </a:solidFill>
                <a:latin typeface="Arial"/>
                <a:ea typeface="Arial"/>
                <a:cs typeface="Arial"/>
              </a:defRPr>
            </a:lvl3pPr>
            <a:lvl4pPr>
              <a:defRPr sz="2325" b="1">
                <a:solidFill>
                  <a:srgbClr val="D94325"/>
                </a:solidFill>
                <a:latin typeface="Arial"/>
                <a:ea typeface="Arial"/>
                <a:cs typeface="Arial"/>
              </a:defRPr>
            </a:lvl4pPr>
            <a:lvl5pPr>
              <a:defRPr sz="2325" b="1">
                <a:solidFill>
                  <a:srgbClr val="D94325"/>
                </a:solidFill>
                <a:latin typeface="Arial"/>
                <a:ea typeface="Arial"/>
                <a:cs typeface="Arial"/>
              </a:defRPr>
            </a:lvl5pPr>
            <a:lvl6pPr>
              <a:defRPr sz="2325" b="1">
                <a:solidFill>
                  <a:srgbClr val="D94325"/>
                </a:solidFill>
                <a:latin typeface="Arial"/>
                <a:ea typeface="Arial"/>
                <a:cs typeface="Arial"/>
              </a:defRPr>
            </a:lvl6pPr>
            <a:lvl7pPr>
              <a:defRPr sz="2325" b="1">
                <a:solidFill>
                  <a:srgbClr val="D94325"/>
                </a:solidFill>
                <a:latin typeface="Arial"/>
                <a:ea typeface="Arial"/>
                <a:cs typeface="Arial"/>
              </a:defRPr>
            </a:lvl7pPr>
            <a:lvl8pPr>
              <a:defRPr sz="2325" b="1">
                <a:solidFill>
                  <a:srgbClr val="D94325"/>
                </a:solidFill>
                <a:latin typeface="Arial"/>
                <a:ea typeface="Arial"/>
                <a:cs typeface="Arial"/>
              </a:defRPr>
            </a:lvl8pPr>
            <a:lvl9pPr>
              <a:defRPr sz="2325" b="1">
                <a:solidFill>
                  <a:srgbClr val="D9432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D94325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D94325"/>
                </a:solidFill>
                <a:latin typeface="Arial"/>
                <a:ea typeface="Arial"/>
                <a:cs typeface="Arial"/>
              </a:rPr>
              <a:t>d = 1,03t + 0,399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CC2547-540F-4DA3-980C-7D0410F22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676525"/>
            <a:ext cx="3333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Inclinação</a:t>
            </a:r>
          </a:p>
          <a:p xmlns:a="http://schemas.openxmlformats.org/drawingml/2006/main">
            <a:pPr>
              <a:defRPr sz="21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v ≈ 1,03 m/s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7A3EC3-FBE7-4B86-A650-AFE188389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743325"/>
            <a:ext cx="3333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Intercepto</a:t>
            </a:r>
          </a:p>
          <a:p xmlns:a="http://schemas.openxmlformats.org/drawingml/2006/main">
            <a:pPr>
              <a:defRPr sz="21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d₀ ≈ 0,399 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E34F5C-0785-4576-9140-4C7A4CDB5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886325"/>
            <a:ext cx="333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1">
                <a:solidFill>
                  <a:srgbClr val="7861B6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7861B6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7861B6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7861B6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7861B6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7861B6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7861B6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7861B6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7861B6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7861B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7861B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7861B6"/>
                </a:solidFill>
                <a:latin typeface="Arial"/>
                <a:ea typeface="Arial"/>
                <a:cs typeface="Arial"/>
              </a:rPr>
              <a:t>R² = 0,9945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BC1C3D-73A2-4CEB-BB8B-9FB82FCD4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172200"/>
            <a:ext cx="10906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R² descreve o ajuste. A análise também exige coerência física.</a:t>
            </a:r>
          </a:p>
        </p:txBody>
      </p:sp>
    </p:spTree>
    <p:extLst>
      <p:ext uri="{BB962C8B-B14F-4D97-AF65-F5344CB8AC3E}">
        <p14:creationId xmlns:p14="http://schemas.microsoft.com/office/powerpoint/2010/main" val="63627125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D09632-2188-4DAE-83A5-507178F7C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8625"/>
            <a:ext cx="10858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4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MRUV e linearização</a:t>
            </a:r>
          </a:p>
        </p:txBody>
      </p:sp>
      <p:graphicFrame>
        <p:nvGraphicFramePr>
          <p:cNvPr id="2" name="Chart">
            <a:extLst xmlns:a="http://schemas.openxmlformats.org/drawingml/2006/main">
              <a:ext uri="{FF2B5EF4-FFF2-40B4-BE49-F238E27FC236}">
                <a16:creationId xmlns:a16="http://schemas.microsoft.com/office/drawing/2014/main" id="{CA74BF75-DDA8-4263-94A1-2168BD4B7B98}"/>
              </a:ext>
            </a:extLst>
          </p:cNvPr>
          <p:cNvGraphicFramePr/>
          <p:nvPr/>
        </p:nvGraphicFramePr>
        <p:xfrm>
          <a:off xmlns:a="http://schemas.openxmlformats.org/drawingml/2006/main" x="619125" y="1504950"/>
          <a:ext xmlns:a="http://schemas.openxmlformats.org/drawingml/2006/main" cx="523875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939fa167e094894"/>
          </a:graphicData>
        </a:graphic>
      </p:graphicFrame>
      <p:graphicFrame>
        <p:nvGraphicFramePr>
          <p:cNvPr id="3" name="Chart">
            <a:extLst xmlns:a="http://schemas.openxmlformats.org/drawingml/2006/main">
              <a:ext uri="{FF2B5EF4-FFF2-40B4-BE49-F238E27FC236}">
                <a16:creationId xmlns:a16="http://schemas.microsoft.com/office/drawing/2014/main" id="{BE200938-2374-40DD-95AB-73D354E3E672}"/>
              </a:ext>
            </a:extLst>
          </p:cNvPr>
          <p:cNvGraphicFramePr/>
          <p:nvPr/>
        </p:nvGraphicFramePr>
        <p:xfrm>
          <a:off xmlns:a="http://schemas.openxmlformats.org/drawingml/2006/main" x="6305550" y="1504950"/>
          <a:ext xmlns:a="http://schemas.openxmlformats.org/drawingml/2006/main" cx="523875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fec8df850f44e1e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F45547-9FFD-4A85-AC6C-20970291A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629275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550" b="1">
                <a:solidFill>
                  <a:srgbClr val="D94325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D94325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D94325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D94325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D94325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D94325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D94325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D94325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D94325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D9432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D9432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D94325"/>
                </a:solidFill>
                <a:latin typeface="Arial"/>
                <a:ea typeface="Arial"/>
                <a:cs typeface="Arial"/>
              </a:rPr>
              <a:t>d = 0,20t²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D4FCA3-AD57-44E1-A692-B8261D039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629275"/>
            <a:ext cx="523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1">
                <a:solidFill>
                  <a:srgbClr val="D94325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D94325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D94325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D94325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D94325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D94325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D94325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D94325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D94325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D9432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D94325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D94325"/>
                </a:solidFill>
                <a:latin typeface="Arial"/>
                <a:ea typeface="Arial"/>
                <a:cs typeface="Arial"/>
              </a:rPr>
              <a:t>a/2 = 0,20    a = 0,40 m/s²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C14DA6-B2A7-4492-99B3-C581D73A7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248400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Condição do exemplo: posição inicial e velocidade inicial nulas.</a:t>
            </a:r>
          </a:p>
        </p:txBody>
      </p:sp>
    </p:spTree>
    <p:extLst>
      <p:ext uri="{BB962C8B-B14F-4D97-AF65-F5344CB8AC3E}">
        <p14:creationId xmlns:p14="http://schemas.microsoft.com/office/powerpoint/2010/main" val="183649169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B7D3D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3D1120-C0C4-4694-93FE-3AB9CBBB7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8625"/>
            <a:ext cx="10858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4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Resultados técnicos e avaliação prevista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579DD8-CFE0-4EAE-9521-6BEFB54A4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81150"/>
            <a:ext cx="5095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325" b="1">
                <a:solidFill>
                  <a:srgbClr val="D94325"/>
                </a:solidFill>
                <a:latin typeface="Arial"/>
                <a:ea typeface="Arial"/>
                <a:cs typeface="Arial"/>
              </a:defRPr>
            </a:defPPr>
            <a:lvl1pPr>
              <a:defRPr sz="2325" b="1">
                <a:solidFill>
                  <a:srgbClr val="D94325"/>
                </a:solidFill>
                <a:latin typeface="Arial"/>
                <a:ea typeface="Arial"/>
                <a:cs typeface="Arial"/>
              </a:defRPr>
            </a:lvl1pPr>
            <a:lvl2pPr>
              <a:defRPr sz="2325" b="1">
                <a:solidFill>
                  <a:srgbClr val="D94325"/>
                </a:solidFill>
                <a:latin typeface="Arial"/>
                <a:ea typeface="Arial"/>
                <a:cs typeface="Arial"/>
              </a:defRPr>
            </a:lvl2pPr>
            <a:lvl3pPr>
              <a:defRPr sz="2325" b="1">
                <a:solidFill>
                  <a:srgbClr val="D94325"/>
                </a:solidFill>
                <a:latin typeface="Arial"/>
                <a:ea typeface="Arial"/>
                <a:cs typeface="Arial"/>
              </a:defRPr>
            </a:lvl3pPr>
            <a:lvl4pPr>
              <a:defRPr sz="2325" b="1">
                <a:solidFill>
                  <a:srgbClr val="D94325"/>
                </a:solidFill>
                <a:latin typeface="Arial"/>
                <a:ea typeface="Arial"/>
                <a:cs typeface="Arial"/>
              </a:defRPr>
            </a:lvl4pPr>
            <a:lvl5pPr>
              <a:defRPr sz="2325" b="1">
                <a:solidFill>
                  <a:srgbClr val="D94325"/>
                </a:solidFill>
                <a:latin typeface="Arial"/>
                <a:ea typeface="Arial"/>
                <a:cs typeface="Arial"/>
              </a:defRPr>
            </a:lvl5pPr>
            <a:lvl6pPr>
              <a:defRPr sz="2325" b="1">
                <a:solidFill>
                  <a:srgbClr val="D94325"/>
                </a:solidFill>
                <a:latin typeface="Arial"/>
                <a:ea typeface="Arial"/>
                <a:cs typeface="Arial"/>
              </a:defRPr>
            </a:lvl6pPr>
            <a:lvl7pPr>
              <a:defRPr sz="2325" b="1">
                <a:solidFill>
                  <a:srgbClr val="D94325"/>
                </a:solidFill>
                <a:latin typeface="Arial"/>
                <a:ea typeface="Arial"/>
                <a:cs typeface="Arial"/>
              </a:defRPr>
            </a:lvl7pPr>
            <a:lvl8pPr>
              <a:defRPr sz="2325" b="1">
                <a:solidFill>
                  <a:srgbClr val="D94325"/>
                </a:solidFill>
                <a:latin typeface="Arial"/>
                <a:ea typeface="Arial"/>
                <a:cs typeface="Arial"/>
              </a:defRPr>
            </a:lvl8pPr>
            <a:lvl9pPr>
              <a:defRPr sz="2325" b="1">
                <a:solidFill>
                  <a:srgbClr val="D9432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D94325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D94325"/>
                </a:solidFill>
                <a:latin typeface="Arial"/>
                <a:ea typeface="Arial"/>
                <a:cs typeface="Arial"/>
              </a:rPr>
              <a:t>Produto desenvolvido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CE3CF0-F088-46C0-81CE-2FA8D6FF6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324100"/>
            <a:ext cx="523875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Cinco missões navegáveis</a:t>
            </a:r>
          </a:p>
          <a:p xmlns:a="http://schemas.openxmlformats.org/drawingml/2006/main">
            <a:pPr>
              <a:defRPr sz="21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Feedbacks e pistas</a:t>
            </a:r>
          </a:p>
          <a:p xmlns:a="http://schemas.openxmlformats.org/drawingml/2006/main">
            <a:pPr>
              <a:defRPr sz="21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Registros e exportação local</a:t>
            </a:r>
          </a:p>
          <a:p xmlns:a="http://schemas.openxmlformats.org/drawingml/2006/main">
            <a:pPr>
              <a:defRPr sz="21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Versão portátil para demonstração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5AC633-F191-48F4-A0DD-AC5AD11B8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581150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325" b="1">
                <a:solidFill>
                  <a:srgbClr val="7861B6"/>
                </a:solidFill>
                <a:latin typeface="Arial"/>
                <a:ea typeface="Arial"/>
                <a:cs typeface="Arial"/>
              </a:defRPr>
            </a:defPPr>
            <a:lvl1pPr>
              <a:defRPr sz="2325" b="1">
                <a:solidFill>
                  <a:srgbClr val="7861B6"/>
                </a:solidFill>
                <a:latin typeface="Arial"/>
                <a:ea typeface="Arial"/>
                <a:cs typeface="Arial"/>
              </a:defRPr>
            </a:lvl1pPr>
            <a:lvl2pPr>
              <a:defRPr sz="2325" b="1">
                <a:solidFill>
                  <a:srgbClr val="7861B6"/>
                </a:solidFill>
                <a:latin typeface="Arial"/>
                <a:ea typeface="Arial"/>
                <a:cs typeface="Arial"/>
              </a:defRPr>
            </a:lvl2pPr>
            <a:lvl3pPr>
              <a:defRPr sz="2325" b="1">
                <a:solidFill>
                  <a:srgbClr val="7861B6"/>
                </a:solidFill>
                <a:latin typeface="Arial"/>
                <a:ea typeface="Arial"/>
                <a:cs typeface="Arial"/>
              </a:defRPr>
            </a:lvl3pPr>
            <a:lvl4pPr>
              <a:defRPr sz="2325" b="1">
                <a:solidFill>
                  <a:srgbClr val="7861B6"/>
                </a:solidFill>
                <a:latin typeface="Arial"/>
                <a:ea typeface="Arial"/>
                <a:cs typeface="Arial"/>
              </a:defRPr>
            </a:lvl4pPr>
            <a:lvl5pPr>
              <a:defRPr sz="2325" b="1">
                <a:solidFill>
                  <a:srgbClr val="7861B6"/>
                </a:solidFill>
                <a:latin typeface="Arial"/>
                <a:ea typeface="Arial"/>
                <a:cs typeface="Arial"/>
              </a:defRPr>
            </a:lvl5pPr>
            <a:lvl6pPr>
              <a:defRPr sz="2325" b="1">
                <a:solidFill>
                  <a:srgbClr val="7861B6"/>
                </a:solidFill>
                <a:latin typeface="Arial"/>
                <a:ea typeface="Arial"/>
                <a:cs typeface="Arial"/>
              </a:defRPr>
            </a:lvl6pPr>
            <a:lvl7pPr>
              <a:defRPr sz="2325" b="1">
                <a:solidFill>
                  <a:srgbClr val="7861B6"/>
                </a:solidFill>
                <a:latin typeface="Arial"/>
                <a:ea typeface="Arial"/>
                <a:cs typeface="Arial"/>
              </a:defRPr>
            </a:lvl7pPr>
            <a:lvl8pPr>
              <a:defRPr sz="2325" b="1">
                <a:solidFill>
                  <a:srgbClr val="7861B6"/>
                </a:solidFill>
                <a:latin typeface="Arial"/>
                <a:ea typeface="Arial"/>
                <a:cs typeface="Arial"/>
              </a:defRPr>
            </a:lvl8pPr>
            <a:lvl9pPr>
              <a:defRPr sz="2325" b="1">
                <a:solidFill>
                  <a:srgbClr val="7861B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7861B6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7861B6"/>
                </a:solidFill>
                <a:latin typeface="Arial"/>
                <a:ea typeface="Arial"/>
                <a:cs typeface="Arial"/>
              </a:rPr>
              <a:t>Aplicação com estudantes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1805E0-E41A-4E52-8CF1-813C6B589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24100"/>
            <a:ext cx="49530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Ainda não realizada</a:t>
            </a:r>
          </a:p>
          <a:p xmlns:a="http://schemas.openxmlformats.org/drawingml/2006/main">
            <a:pPr>
              <a:defRPr sz="21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Diagnóstico e pós-teste da equipe: 0 a 6</a:t>
            </a:r>
          </a:p>
          <a:p xmlns:a="http://schemas.openxmlformats.org/drawingml/2006/main">
            <a:pPr>
              <a:defRPr sz="21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Rubrica docente: 0 a 12</a:t>
            </a:r>
          </a:p>
          <a:p xmlns:a="http://schemas.openxmlformats.org/drawingml/2006/main">
            <a:pPr>
              <a:defRPr sz="21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Análise das justificativas e da colaboração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114406-D56E-4A5A-BA00-88C009ACA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429250"/>
            <a:ext cx="1076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5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A eficácia educacional depende de uma aplicação documentada.</a:t>
            </a:r>
          </a:p>
        </p:txBody>
      </p:sp>
    </p:spTree>
    <p:extLst>
      <p:ext uri="{BB962C8B-B14F-4D97-AF65-F5344CB8AC3E}">
        <p14:creationId xmlns:p14="http://schemas.microsoft.com/office/powerpoint/2010/main" val="135413867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A53E11-0CE8-4BD8-9D1D-73BBE52B2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8625"/>
            <a:ext cx="10858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4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Conclusões e próximos passos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88B4EC-C918-4A0F-8EE2-CC10D7AA2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81150"/>
            <a:ext cx="10858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O LabMotion organiza uma revisão</a:t>
            </a:r>
          </a:p>
          <a:p xmlns:a="http://schemas.openxmlformats.org/drawingml/2006/main">
            <a:pPr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que exige interpretar evidências</a:t>
            </a:r>
          </a:p>
          <a:p xmlns:a="http://schemas.openxmlformats.org/drawingml/2006/main">
            <a:pPr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e explicar conclusões físicas.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BD19DE-AA50-4A34-BD0D-EA33524A6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752850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0">
                <a:solidFill>
                  <a:srgbClr val="D94325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D94325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D94325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D94325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D94325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D94325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D94325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D94325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D94325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D9432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D94325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D94325"/>
                </a:solidFill>
                <a:latin typeface="Arial"/>
                <a:ea typeface="Arial"/>
                <a:cs typeface="Arial"/>
              </a:rPr>
              <a:t>A próxima etapa é a avaliação docente e a aplicação piloto</a:t>
            </a:r>
          </a:p>
          <a:p xmlns:a="http://schemas.openxmlformats.org/drawingml/2006/main">
            <a:pPr>
              <a:defRPr sz="2250" b="0">
                <a:solidFill>
                  <a:srgbClr val="D94325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D94325"/>
                </a:solidFill>
                <a:latin typeface="Arial"/>
                <a:ea typeface="Arial"/>
                <a:cs typeface="Arial"/>
              </a:rPr>
              <a:t>com registros de respostas, tempo e dificuldades.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DCCFFD-2156-4464-A510-006042281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286375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Referências principais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8F1903-3705-45C8-8B2C-D56ED3FBE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7721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Freeman et al. (2014)    Hattie e Timperley (2007)</a:t>
            </a:r>
          </a:p>
          <a:p xmlns:a="http://schemas.openxmlformats.org/drawingml/2006/main">
            <a:pPr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JCGM (2008)    Veldkamp et al. (2020)</a:t>
            </a:r>
          </a:p>
        </p:txBody>
      </p:sp>
    </p:spTree>
    <p:extLst>
      <p:ext uri="{BB962C8B-B14F-4D97-AF65-F5344CB8AC3E}">
        <p14:creationId xmlns:p14="http://schemas.microsoft.com/office/powerpoint/2010/main" val="2479756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2026-10-20T14:51:47.3830000Z</dcterms:created>
  <dcterms:modified xsi:type="dcterms:W3CDTF">2026-10-20T14:51:47.3830000Z</dcterms:modified>
</coreProperties>
</file>